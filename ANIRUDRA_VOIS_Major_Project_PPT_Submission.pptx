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CD5E4A-9D38-474F-84D6-B500591EDD4F}" v="10" dt="2026-09-10T04:12:34.894"/>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RUDRA GUPTA" userId="b8ccf8bc0c6e9e06" providerId="LiveId" clId="{97055491-F8D8-4247-B1C8-C7519C891F76}"/>
    <pc:docChg chg="custSel modSld">
      <pc:chgData name="ANIRUDRA GUPTA" userId="b8ccf8bc0c6e9e06" providerId="LiveId" clId="{97055491-F8D8-4247-B1C8-C7519C891F76}" dt="2026-09-10T04:13:06.181" v="199" actId="478"/>
      <pc:docMkLst>
        <pc:docMk/>
      </pc:docMkLst>
      <pc:sldChg chg="modSp">
        <pc:chgData name="ANIRUDRA GUPTA" userId="b8ccf8bc0c6e9e06" providerId="LiveId" clId="{97055491-F8D8-4247-B1C8-C7519C891F76}" dt="2026-09-09T17:53:13.952" v="1"/>
        <pc:sldMkLst>
          <pc:docMk/>
          <pc:sldMk cId="1341901065" sldId="302"/>
        </pc:sldMkLst>
        <pc:spChg chg="mod">
          <ac:chgData name="ANIRUDRA GUPTA" userId="b8ccf8bc0c6e9e06" providerId="LiveId" clId="{97055491-F8D8-4247-B1C8-C7519C891F76}" dt="2026-09-09T17:53:13.952" v="1"/>
          <ac:spMkLst>
            <pc:docMk/>
            <pc:sldMk cId="1341901065" sldId="302"/>
            <ac:spMk id="7" creationId="{B21C28F5-3CA3-4B78-B5C9-550C00BB3174}"/>
          </ac:spMkLst>
        </pc:spChg>
      </pc:sldChg>
      <pc:sldChg chg="delSp mod">
        <pc:chgData name="ANIRUDRA GUPTA" userId="b8ccf8bc0c6e9e06" providerId="LiveId" clId="{97055491-F8D8-4247-B1C8-C7519C891F76}" dt="2026-09-10T04:13:06.181" v="199" actId="478"/>
        <pc:sldMkLst>
          <pc:docMk/>
          <pc:sldMk cId="3401748718" sldId="304"/>
        </pc:sldMkLst>
        <pc:spChg chg="del">
          <ac:chgData name="ANIRUDRA GUPTA" userId="b8ccf8bc0c6e9e06" providerId="LiveId" clId="{97055491-F8D8-4247-B1C8-C7519C891F76}" dt="2026-09-10T04:13:06.181" v="199" actId="478"/>
          <ac:spMkLst>
            <pc:docMk/>
            <pc:sldMk cId="3401748718" sldId="304"/>
            <ac:spMk id="20" creationId="{A09A5BC1-0E62-4E6B-A590-951A87D4B4FE}"/>
          </ac:spMkLst>
        </pc:spChg>
      </pc:sldChg>
      <pc:sldChg chg="modSp">
        <pc:chgData name="ANIRUDRA GUPTA" userId="b8ccf8bc0c6e9e06" providerId="LiveId" clId="{97055491-F8D8-4247-B1C8-C7519C891F76}" dt="2026-09-09T17:52:31.913" v="0"/>
        <pc:sldMkLst>
          <pc:docMk/>
          <pc:sldMk cId="48075006" sldId="329"/>
        </pc:sldMkLst>
        <pc:spChg chg="mod">
          <ac:chgData name="ANIRUDRA GUPTA" userId="b8ccf8bc0c6e9e06" providerId="LiveId" clId="{97055491-F8D8-4247-B1C8-C7519C891F76}" dt="2026-09-09T17:52:31.913" v="0"/>
          <ac:spMkLst>
            <pc:docMk/>
            <pc:sldMk cId="48075006" sldId="329"/>
            <ac:spMk id="2" creationId="{664E3B60-2780-459A-8583-F095D5E7463A}"/>
          </ac:spMkLst>
        </pc:spChg>
      </pc:sldChg>
      <pc:sldChg chg="addSp modSp mod">
        <pc:chgData name="ANIRUDRA GUPTA" userId="b8ccf8bc0c6e9e06" providerId="LiveId" clId="{97055491-F8D8-4247-B1C8-C7519C891F76}" dt="2026-09-10T03:49:28.796" v="5" actId="1076"/>
        <pc:sldMkLst>
          <pc:docMk/>
          <pc:sldMk cId="1086225493" sldId="339"/>
        </pc:sldMkLst>
        <pc:picChg chg="add mod">
          <ac:chgData name="ANIRUDRA GUPTA" userId="b8ccf8bc0c6e9e06" providerId="LiveId" clId="{97055491-F8D8-4247-B1C8-C7519C891F76}" dt="2026-09-10T03:49:28.796" v="5" actId="1076"/>
          <ac:picMkLst>
            <pc:docMk/>
            <pc:sldMk cId="1086225493" sldId="339"/>
            <ac:picMk id="3" creationId="{C8C9312E-DF7D-02C7-8896-CD675274B984}"/>
          </ac:picMkLst>
        </pc:picChg>
      </pc:sldChg>
      <pc:sldChg chg="addSp delSp modSp mod">
        <pc:chgData name="ANIRUDRA GUPTA" userId="b8ccf8bc0c6e9e06" providerId="LiveId" clId="{97055491-F8D8-4247-B1C8-C7519C891F76}" dt="2026-09-10T03:50:28.666" v="44" actId="14100"/>
        <pc:sldMkLst>
          <pc:docMk/>
          <pc:sldMk cId="3849627828" sldId="340"/>
        </pc:sldMkLst>
        <pc:spChg chg="del mod">
          <ac:chgData name="ANIRUDRA GUPTA" userId="b8ccf8bc0c6e9e06" providerId="LiveId" clId="{97055491-F8D8-4247-B1C8-C7519C891F76}" dt="2026-09-10T03:49:46.637" v="38" actId="21"/>
          <ac:spMkLst>
            <pc:docMk/>
            <pc:sldMk cId="3849627828" sldId="340"/>
            <ac:spMk id="10" creationId="{3A64DB11-806F-1A4C-E0D5-D745D29CED50}"/>
          </ac:spMkLst>
        </pc:spChg>
        <pc:picChg chg="add mod">
          <ac:chgData name="ANIRUDRA GUPTA" userId="b8ccf8bc0c6e9e06" providerId="LiveId" clId="{97055491-F8D8-4247-B1C8-C7519C891F76}" dt="2026-09-10T03:50:28.666" v="44" actId="14100"/>
          <ac:picMkLst>
            <pc:docMk/>
            <pc:sldMk cId="3849627828" sldId="340"/>
            <ac:picMk id="3" creationId="{A0B7FA1A-7934-877B-C2AD-7D01B3F3DEDC}"/>
          </ac:picMkLst>
        </pc:picChg>
      </pc:sldChg>
      <pc:sldChg chg="addSp delSp modSp mod">
        <pc:chgData name="ANIRUDRA GUPTA" userId="b8ccf8bc0c6e9e06" providerId="LiveId" clId="{97055491-F8D8-4247-B1C8-C7519C891F76}" dt="2026-09-10T04:02:37.154" v="195" actId="20577"/>
        <pc:sldMkLst>
          <pc:docMk/>
          <pc:sldMk cId="776828144" sldId="341"/>
        </pc:sldMkLst>
        <pc:spChg chg="add del mod">
          <ac:chgData name="ANIRUDRA GUPTA" userId="b8ccf8bc0c6e9e06" providerId="LiveId" clId="{97055491-F8D8-4247-B1C8-C7519C891F76}" dt="2026-09-10T03:56:41.469" v="160" actId="478"/>
          <ac:spMkLst>
            <pc:docMk/>
            <pc:sldMk cId="776828144" sldId="341"/>
            <ac:spMk id="2" creationId="{2CF55B05-E9E4-A706-C72D-24D56FB28666}"/>
          </ac:spMkLst>
        </pc:spChg>
        <pc:spChg chg="add del mod">
          <ac:chgData name="ANIRUDRA GUPTA" userId="b8ccf8bc0c6e9e06" providerId="LiveId" clId="{97055491-F8D8-4247-B1C8-C7519C891F76}" dt="2026-09-10T03:59:57.286" v="182" actId="21"/>
          <ac:spMkLst>
            <pc:docMk/>
            <pc:sldMk cId="776828144" sldId="341"/>
            <ac:spMk id="3" creationId="{F460C8E7-8219-D056-9B0D-D0B1947819AC}"/>
          </ac:spMkLst>
        </pc:spChg>
        <pc:spChg chg="add mod">
          <ac:chgData name="ANIRUDRA GUPTA" userId="b8ccf8bc0c6e9e06" providerId="LiveId" clId="{97055491-F8D8-4247-B1C8-C7519C891F76}" dt="2026-09-10T04:02:37.154" v="195" actId="20577"/>
          <ac:spMkLst>
            <pc:docMk/>
            <pc:sldMk cId="776828144" sldId="341"/>
            <ac:spMk id="6" creationId="{9E9BB4A6-093A-610A-479B-BC7C302C4003}"/>
          </ac:spMkLst>
        </pc:spChg>
      </pc:sldChg>
      <pc:sldChg chg="modSp mod">
        <pc:chgData name="ANIRUDRA GUPTA" userId="b8ccf8bc0c6e9e06" providerId="LiveId" clId="{97055491-F8D8-4247-B1C8-C7519C891F76}" dt="2026-09-10T04:12:40.829" v="198" actId="1076"/>
        <pc:sldMkLst>
          <pc:docMk/>
          <pc:sldMk cId="3863610428" sldId="342"/>
        </pc:sldMkLst>
        <pc:spChg chg="mod">
          <ac:chgData name="ANIRUDRA GUPTA" userId="b8ccf8bc0c6e9e06" providerId="LiveId" clId="{97055491-F8D8-4247-B1C8-C7519C891F76}" dt="2026-09-10T04:12:40.829" v="198" actId="1076"/>
          <ac:spMkLst>
            <pc:docMk/>
            <pc:sldMk cId="3863610428" sldId="342"/>
            <ac:spMk id="3" creationId="{5F0B37E4-66B1-8633-7266-68B321742757}"/>
          </ac:spMkLst>
        </pc:spChg>
      </pc:sldChg>
      <pc:sldChg chg="addSp delSp modSp mod">
        <pc:chgData name="ANIRUDRA GUPTA" userId="b8ccf8bc0c6e9e06" providerId="LiveId" clId="{97055491-F8D8-4247-B1C8-C7519C891F76}" dt="2026-09-10T03:51:16.169" v="81" actId="14100"/>
        <pc:sldMkLst>
          <pc:docMk/>
          <pc:sldMk cId="1698901770" sldId="344"/>
        </pc:sldMkLst>
        <pc:spChg chg="del mod">
          <ac:chgData name="ANIRUDRA GUPTA" userId="b8ccf8bc0c6e9e06" providerId="LiveId" clId="{97055491-F8D8-4247-B1C8-C7519C891F76}" dt="2026-09-10T03:50:52.419" v="77" actId="21"/>
          <ac:spMkLst>
            <pc:docMk/>
            <pc:sldMk cId="1698901770" sldId="344"/>
            <ac:spMk id="10" creationId="{B6E3B1C7-6A8B-23EE-6251-DC1067C6ADE9}"/>
          </ac:spMkLst>
        </pc:spChg>
        <pc:picChg chg="add mod">
          <ac:chgData name="ANIRUDRA GUPTA" userId="b8ccf8bc0c6e9e06" providerId="LiveId" clId="{97055491-F8D8-4247-B1C8-C7519C891F76}" dt="2026-09-10T03:51:16.169" v="81" actId="14100"/>
          <ac:picMkLst>
            <pc:docMk/>
            <pc:sldMk cId="1698901770" sldId="344"/>
            <ac:picMk id="3" creationId="{4F976D53-2218-2C49-F7AD-6685CFB1566A}"/>
          </ac:picMkLst>
        </pc:picChg>
      </pc:sldChg>
      <pc:sldChg chg="addSp delSp modSp mod">
        <pc:chgData name="ANIRUDRA GUPTA" userId="b8ccf8bc0c6e9e06" providerId="LiveId" clId="{97055491-F8D8-4247-B1C8-C7519C891F76}" dt="2026-09-10T03:51:48.191" v="118" actId="1076"/>
        <pc:sldMkLst>
          <pc:docMk/>
          <pc:sldMk cId="1903979828" sldId="345"/>
        </pc:sldMkLst>
        <pc:spChg chg="del mod">
          <ac:chgData name="ANIRUDRA GUPTA" userId="b8ccf8bc0c6e9e06" providerId="LiveId" clId="{97055491-F8D8-4247-B1C8-C7519C891F76}" dt="2026-09-10T03:51:27.628" v="114" actId="21"/>
          <ac:spMkLst>
            <pc:docMk/>
            <pc:sldMk cId="1903979828" sldId="345"/>
            <ac:spMk id="10" creationId="{2B7B89A1-9444-8322-CADC-42D31D698FA8}"/>
          </ac:spMkLst>
        </pc:spChg>
        <pc:picChg chg="add mod">
          <ac:chgData name="ANIRUDRA GUPTA" userId="b8ccf8bc0c6e9e06" providerId="LiveId" clId="{97055491-F8D8-4247-B1C8-C7519C891F76}" dt="2026-09-10T03:51:48.191" v="118" actId="1076"/>
          <ac:picMkLst>
            <pc:docMk/>
            <pc:sldMk cId="1903979828" sldId="345"/>
            <ac:picMk id="3" creationId="{36E91097-4F3E-545A-3BCE-EE8E3B8D2879}"/>
          </ac:picMkLst>
        </pc:picChg>
      </pc:sldChg>
      <pc:sldChg chg="addSp delSp modSp mod">
        <pc:chgData name="ANIRUDRA GUPTA" userId="b8ccf8bc0c6e9e06" providerId="LiveId" clId="{97055491-F8D8-4247-B1C8-C7519C891F76}" dt="2026-09-10T03:54:03.694" v="155" actId="14100"/>
        <pc:sldMkLst>
          <pc:docMk/>
          <pc:sldMk cId="1421522261" sldId="346"/>
        </pc:sldMkLst>
        <pc:spChg chg="del mod">
          <ac:chgData name="ANIRUDRA GUPTA" userId="b8ccf8bc0c6e9e06" providerId="LiveId" clId="{97055491-F8D8-4247-B1C8-C7519C891F76}" dt="2026-09-10T03:53:11.073" v="151" actId="21"/>
          <ac:spMkLst>
            <pc:docMk/>
            <pc:sldMk cId="1421522261" sldId="346"/>
            <ac:spMk id="10" creationId="{F85C769B-425A-FE3B-E47A-3B747985DC52}"/>
          </ac:spMkLst>
        </pc:spChg>
        <pc:picChg chg="add mod">
          <ac:chgData name="ANIRUDRA GUPTA" userId="b8ccf8bc0c6e9e06" providerId="LiveId" clId="{97055491-F8D8-4247-B1C8-C7519C891F76}" dt="2026-09-10T03:54:03.694" v="155" actId="14100"/>
          <ac:picMkLst>
            <pc:docMk/>
            <pc:sldMk cId="1421522261" sldId="346"/>
            <ac:picMk id="3" creationId="{0E038AF4-F401-47FF-5251-3BDFC7B1F0AD}"/>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752387"/>
            <a:ext cx="3980019" cy="861497"/>
          </a:xfrm>
        </p:spPr>
        <p:txBody>
          <a:bodyPr vert="horz" lIns="91440" tIns="45720" rIns="91440" bIns="45720" rtlCol="0" anchor="t">
            <a:normAutofit fontScale="62500" lnSpcReduction="20000"/>
          </a:bodyPr>
          <a:lstStyle/>
          <a:p>
            <a:pPr algn="r"/>
            <a:r>
              <a:rPr lang="en-US" dirty="0">
                <a:solidFill>
                  <a:schemeClr val="tx1"/>
                </a:solidFill>
              </a:rPr>
              <a:t>Student Name</a:t>
            </a:r>
            <a:r>
              <a:rPr lang="en-US" b="0" dirty="0">
                <a:solidFill>
                  <a:schemeClr val="tx1"/>
                </a:solidFill>
              </a:rPr>
              <a:t> : ANIRUDRA GUPTA </a:t>
            </a:r>
            <a:r>
              <a:rPr lang="en-IN" b="0" dirty="0">
                <a:solidFill>
                  <a:schemeClr val="tx1"/>
                </a:solidFill>
              </a:rPr>
              <a:t>  </a:t>
            </a:r>
          </a:p>
          <a:p>
            <a:pPr algn="r"/>
            <a:r>
              <a:rPr lang="en-US" dirty="0">
                <a:solidFill>
                  <a:schemeClr val="tx1"/>
                </a:solidFill>
              </a:rPr>
              <a:t>College Name</a:t>
            </a:r>
            <a:r>
              <a:rPr lang="en-US" b="0" dirty="0">
                <a:solidFill>
                  <a:schemeClr val="tx1"/>
                </a:solidFill>
              </a:rPr>
              <a:t> : MEDICAPS UNIVERSITY</a:t>
            </a:r>
          </a:p>
          <a:p>
            <a:pPr algn="r"/>
            <a:r>
              <a:rPr lang="en-US" dirty="0">
                <a:solidFill>
                  <a:schemeClr val="tx1"/>
                </a:solidFill>
              </a:rPr>
              <a:t>AICTE Student ID</a:t>
            </a:r>
            <a:r>
              <a:rPr lang="en-US" b="0" dirty="0">
                <a:solidFill>
                  <a:schemeClr val="tx1"/>
                </a:solidFill>
              </a:rPr>
              <a:t> : STU697329b8738781769155000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6982069" cy="743448"/>
          </a:xfrm>
        </p:spPr>
        <p:txBody>
          <a:bodyPr>
            <a:noAutofit/>
          </a:bodyPr>
          <a:lstStyle/>
          <a:p>
            <a:r>
              <a:rPr lang="en-GB" sz="2000" b="1" dirty="0"/>
              <a:t>Project Title</a:t>
            </a:r>
            <a:r>
              <a:rPr lang="en-GB" sz="2000" dirty="0"/>
              <a:t> – Seasonal Agriculture Performance Analysis</a:t>
            </a:r>
            <a:endParaRPr lang="en-IN" sz="20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980677" y="2102230"/>
            <a:ext cx="6431280" cy="3607987"/>
          </a:xfrm>
        </p:spPr>
        <p:txBody>
          <a:bodyPr vert="horz" lIns="91440" tIns="45720" rIns="91440" bIns="45720" rtlCol="0" anchor="t">
            <a:normAutofit fontScale="62500" lnSpcReduction="20000"/>
          </a:bodyPr>
          <a:lstStyle/>
          <a:p>
            <a:pPr>
              <a:lnSpc>
                <a:spcPct val="100000"/>
              </a:lnSpc>
            </a:pPr>
            <a:r>
              <a:rPr lang="en-US" sz="2800" dirty="0"/>
              <a:t>Agricultural activities are influenced by seasonal variations in environmental conditions, farming practices, resource availability and market conditions. </a:t>
            </a:r>
          </a:p>
          <a:p>
            <a:pPr>
              <a:lnSpc>
                <a:spcPct val="100000"/>
              </a:lnSpc>
            </a:pPr>
            <a:r>
              <a:rPr lang="en-US" sz="2800" dirty="0"/>
              <a:t>As a result, agricultural performance may differ from one season to another. However, raw agricultural data does not clearly explain how agricultural performance changes across seasons or what patterns can be observed in different seasonal conditions. </a:t>
            </a:r>
          </a:p>
          <a:p>
            <a:pPr>
              <a:lnSpc>
                <a:spcPct val="100000"/>
              </a:lnSpc>
            </a:pPr>
            <a:r>
              <a:rPr lang="en-US" sz="2800" dirty="0"/>
              <a:t>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8042338" y="2489158"/>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35997" y="462466"/>
            <a:ext cx="6928492" cy="5610309"/>
          </a:xfrm>
        </p:spPr>
        <p:txBody>
          <a:bodyPr>
            <a:noAutofit/>
          </a:bodyPr>
          <a:lstStyle/>
          <a:p>
            <a:r>
              <a:rPr lang="en-GB" sz="1800" dirty="0"/>
              <a:t>Project Description : </a:t>
            </a:r>
            <a:r>
              <a:rPr lang="en-IN" sz="1800" dirty="0"/>
              <a:t>Seasonal Agriculture Performance Analysis</a:t>
            </a:r>
            <a:br>
              <a:rPr lang="en-IN" sz="1800" dirty="0"/>
            </a:br>
            <a:br>
              <a:rPr lang="en-IN" sz="1050" dirty="0"/>
            </a:br>
            <a:r>
              <a:rPr lang="en-IN" sz="1050" dirty="0"/>
              <a:t>Objective: </a:t>
            </a:r>
            <a:r>
              <a:rPr lang="en-IN" sz="1050" b="0" dirty="0"/>
              <a:t>Analysed how agricultural performance changes across Kharif, Rabi, and Zaid seasons.</a:t>
            </a:r>
            <a:br>
              <a:rPr lang="en-IN" sz="1050" b="0" dirty="0"/>
            </a:br>
            <a:r>
              <a:rPr lang="en-IN" sz="1050" b="0" dirty="0"/>
              <a:t>Dataset: Worked with 4,000 farm records and 28 attributes covering crops, states, weather, soil, resources, production, and financial performance</a:t>
            </a:r>
            <a:r>
              <a:rPr lang="en-IN" sz="1050" dirty="0"/>
              <a:t>.</a:t>
            </a:r>
            <a:br>
              <a:rPr lang="en-IN" sz="1050" dirty="0"/>
            </a:br>
            <a:br>
              <a:rPr lang="en-IN" sz="1050" dirty="0"/>
            </a:br>
            <a:r>
              <a:rPr lang="en-IN" sz="1050" dirty="0"/>
              <a:t>Technologies: </a:t>
            </a:r>
            <a:r>
              <a:rPr lang="en-IN" sz="1050" b="0" dirty="0"/>
              <a:t>Python, Pandas, NumPy, Matplotlib, and Seaborn.</a:t>
            </a:r>
            <a:br>
              <a:rPr lang="en-IN" sz="1050" dirty="0"/>
            </a:br>
            <a:br>
              <a:rPr lang="en-IN" sz="1050" dirty="0"/>
            </a:br>
            <a:r>
              <a:rPr lang="en-IN" sz="1050" dirty="0"/>
              <a:t>Data Cleaning: </a:t>
            </a:r>
            <a:r>
              <a:rPr lang="en-IN" sz="1050" b="0" dirty="0"/>
              <a:t>Identified missing values and handled them using mean imputation. Checked the dataset for duplicates and found none.</a:t>
            </a:r>
            <a:br>
              <a:rPr lang="en-IN" sz="1050" dirty="0"/>
            </a:br>
            <a:br>
              <a:rPr lang="en-IN" sz="1050" dirty="0"/>
            </a:br>
            <a:r>
              <a:rPr lang="en-IN" sz="1050" dirty="0"/>
              <a:t>Exploratory Analysis: </a:t>
            </a:r>
            <a:r>
              <a:rPr lang="en-IN" sz="1050" b="0" dirty="0"/>
              <a:t>Studied season, crop, and state distributions and calculated important statistics using Pandas.</a:t>
            </a:r>
            <a:br>
              <a:rPr lang="en-IN" sz="1050" dirty="0"/>
            </a:br>
            <a:br>
              <a:rPr lang="en-IN" sz="1050" dirty="0"/>
            </a:br>
            <a:r>
              <a:rPr lang="en-IN" sz="1050" dirty="0"/>
              <a:t>Seasonal Analysis</a:t>
            </a:r>
            <a:r>
              <a:rPr lang="en-IN" sz="1050" b="0" dirty="0"/>
              <a:t>: Compared yield, profit, rainfall, and water usage across the three seasons.</a:t>
            </a:r>
            <a:br>
              <a:rPr lang="en-IN" sz="1050" b="0" dirty="0"/>
            </a:br>
            <a:br>
              <a:rPr lang="en-IN" sz="1050" dirty="0"/>
            </a:br>
            <a:r>
              <a:rPr lang="en-IN" sz="1050" dirty="0"/>
              <a:t>Visualization:</a:t>
            </a:r>
            <a:r>
              <a:rPr lang="en-IN" sz="1050" b="0" dirty="0"/>
              <a:t> Created bar charts, boxplots, and correlation heatmaps to clearly understand patterns and relationships.</a:t>
            </a:r>
            <a:br>
              <a:rPr lang="en-IN" sz="1050" b="0" dirty="0"/>
            </a:br>
            <a:br>
              <a:rPr lang="en-IN" sz="1050" dirty="0"/>
            </a:br>
            <a:r>
              <a:rPr lang="en-IN" sz="1050" dirty="0"/>
              <a:t>Crop Analysis: </a:t>
            </a:r>
            <a:r>
              <a:rPr lang="en-IN" sz="1050" b="0" dirty="0"/>
              <a:t>Found Sugarcane to have the highest average yield at approximately 46.67 tonnes/ha.</a:t>
            </a:r>
            <a:br>
              <a:rPr lang="en-IN" sz="1050" b="0" dirty="0"/>
            </a:br>
            <a:r>
              <a:rPr lang="en-IN" sz="1050" b="0" dirty="0"/>
              <a:t>Profit Analysis: Kharif had the highest average profit (~₹1.79 lakh), while Zaid had the lowest average profit (~−₹24.8K).</a:t>
            </a:r>
            <a:br>
              <a:rPr lang="en-IN" sz="1050" b="0" dirty="0"/>
            </a:br>
            <a:br>
              <a:rPr lang="en-IN" sz="1050" dirty="0"/>
            </a:br>
            <a:r>
              <a:rPr lang="en-IN" sz="1050" dirty="0"/>
              <a:t>Loss Analysis</a:t>
            </a:r>
            <a:r>
              <a:rPr lang="en-IN" sz="1050" b="0" dirty="0"/>
              <a:t>: Identified 1,966 loss-making farms and </a:t>
            </a:r>
            <a:r>
              <a:rPr lang="en-IN" sz="1050" b="0" dirty="0" err="1"/>
              <a:t>analyzed</a:t>
            </a:r>
            <a:r>
              <a:rPr lang="en-IN" sz="1050" b="0" dirty="0"/>
              <a:t> their distribution across seasons.</a:t>
            </a:r>
            <a:br>
              <a:rPr lang="en-IN" sz="1050" b="0" dirty="0"/>
            </a:br>
            <a:r>
              <a:rPr lang="en-IN" sz="1050" b="0" dirty="0"/>
              <a:t>Correlation Analysis: Studied relationships between rainfall, temperature, yield, profit, and water usage.</a:t>
            </a:r>
            <a:br>
              <a:rPr lang="en-IN" sz="1050" b="0" dirty="0"/>
            </a:br>
            <a:r>
              <a:rPr lang="en-IN" sz="1050" b="0" dirty="0"/>
              <a:t>Key Finding: Kharif showed the strongest overall performance, while Zaid required better irrigation and resource management.</a:t>
            </a:r>
            <a:br>
              <a:rPr lang="en-IN" sz="1050" b="0" dirty="0"/>
            </a:br>
            <a:br>
              <a:rPr lang="en-IN" sz="1050" b="0" dirty="0"/>
            </a:br>
            <a:r>
              <a:rPr lang="en-IN" sz="1050" dirty="0"/>
              <a:t>Outcome</a:t>
            </a:r>
            <a:r>
              <a:rPr lang="en-IN" sz="1050" b="0" dirty="0"/>
              <a:t>: Generated data-driven insights and recommendations to support better crop planning, resource utilization, and agricultural profitability.</a:t>
            </a:r>
            <a:br>
              <a:rPr lang="en-IN" sz="1050" b="0" dirty="0"/>
            </a:br>
            <a:br>
              <a:rPr lang="en-IN" sz="1050" b="0" dirty="0"/>
            </a:br>
            <a:br>
              <a:rPr lang="en-GB" sz="1050" b="0" dirty="0"/>
            </a:br>
            <a:endParaRPr lang="en-IN" sz="1050"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47500" lnSpcReduction="20000"/>
          </a:bodyPr>
          <a:lstStyle/>
          <a:p>
            <a:pPr marL="0" indent="0">
              <a:buNone/>
            </a:pPr>
            <a:r>
              <a:rPr lang="en-IN" sz="3600" dirty="0"/>
              <a:t>For your </a:t>
            </a:r>
            <a:r>
              <a:rPr lang="en-IN" sz="3600" b="1" dirty="0"/>
              <a:t>Seasonal Agriculture Performance Analysis</a:t>
            </a:r>
            <a:r>
              <a:rPr lang="en-IN" sz="3600" dirty="0"/>
              <a:t> project, the main end users can be:</a:t>
            </a:r>
          </a:p>
          <a:p>
            <a:pPr lvl="0"/>
            <a:r>
              <a:rPr lang="en-IN" sz="3600" dirty="0"/>
              <a:t>👨‍🌾 </a:t>
            </a:r>
            <a:r>
              <a:rPr lang="en-IN" sz="3600" b="1" dirty="0"/>
              <a:t>Farmers</a:t>
            </a:r>
            <a:r>
              <a:rPr lang="en-IN" sz="3600" dirty="0"/>
              <a:t> – to understand which seasons and crops give better yield and profit. </a:t>
            </a:r>
          </a:p>
          <a:p>
            <a:pPr lvl="0"/>
            <a:r>
              <a:rPr lang="en-IN" sz="3600" dirty="0"/>
              <a:t>🌾 </a:t>
            </a:r>
            <a:r>
              <a:rPr lang="en-IN" sz="3600" b="1" dirty="0"/>
              <a:t>Agricultural Planners</a:t>
            </a:r>
            <a:r>
              <a:rPr lang="en-IN" sz="3600" dirty="0"/>
              <a:t> – to compare seasonal performance and plan crop production. </a:t>
            </a:r>
          </a:p>
          <a:p>
            <a:pPr lvl="0"/>
            <a:r>
              <a:rPr lang="en-IN" sz="3600" dirty="0"/>
              <a:t>🏛️ </a:t>
            </a:r>
            <a:r>
              <a:rPr lang="en-IN" sz="3600" b="1" dirty="0"/>
              <a:t>Government &amp; Agriculture Departments</a:t>
            </a:r>
            <a:r>
              <a:rPr lang="en-IN" sz="3600" dirty="0"/>
              <a:t> – to support agricultural policies, subsidies, and resource planning. </a:t>
            </a:r>
          </a:p>
          <a:p>
            <a:pPr lvl="0"/>
            <a:r>
              <a:rPr lang="en-IN" sz="3600" dirty="0"/>
              <a:t>💧 </a:t>
            </a:r>
            <a:r>
              <a:rPr lang="en-IN" sz="3600" b="1" dirty="0"/>
              <a:t>Irrigation &amp; Resource Managers</a:t>
            </a:r>
            <a:r>
              <a:rPr lang="en-IN" sz="3600" dirty="0"/>
              <a:t> – to </a:t>
            </a:r>
            <a:r>
              <a:rPr lang="en-IN" sz="3600" dirty="0" err="1"/>
              <a:t>analyze</a:t>
            </a:r>
            <a:r>
              <a:rPr lang="en-IN" sz="3600" dirty="0"/>
              <a:t> water usage and improve irrigation efficiency. </a:t>
            </a:r>
          </a:p>
          <a:p>
            <a:pPr lvl="0"/>
            <a:r>
              <a:rPr lang="en-IN" sz="3600" dirty="0"/>
              <a:t>📊 </a:t>
            </a:r>
            <a:r>
              <a:rPr lang="en-IN" sz="3600" b="1" dirty="0"/>
              <a:t>Agricultural Analysts / Data Scientists</a:t>
            </a:r>
            <a:r>
              <a:rPr lang="en-IN" sz="3600" dirty="0"/>
              <a:t> – to study relationships between rainfall, temperature, yield, profit, and resources. </a:t>
            </a:r>
          </a:p>
          <a:p>
            <a:pPr lvl="0"/>
            <a:r>
              <a:rPr lang="en-IN" sz="3600" dirty="0"/>
              <a:t>🏢 </a:t>
            </a:r>
            <a:r>
              <a:rPr lang="en-IN" sz="3600" b="1" dirty="0"/>
              <a:t>Agri-businesses &amp; Companies</a:t>
            </a:r>
            <a:r>
              <a:rPr lang="en-IN" sz="3600" dirty="0"/>
              <a:t> – to make decisions about crop planning, supply, and investment.</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582149" y="1463105"/>
            <a:ext cx="9027702" cy="5243448"/>
          </a:xfrm>
        </p:spPr>
        <p:txBody>
          <a:bodyPr/>
          <a:lstStyle/>
          <a:p>
            <a:pPr marL="0" indent="0">
              <a:buNone/>
            </a:pPr>
            <a:r>
              <a:rPr lang="en-IN" b="1" dirty="0"/>
              <a:t> Technologies Used</a:t>
            </a:r>
          </a:p>
          <a:p>
            <a:pPr lvl="0"/>
            <a:r>
              <a:rPr lang="en-IN" b="1" dirty="0"/>
              <a:t>Python</a:t>
            </a:r>
            <a:r>
              <a:rPr lang="en-IN" dirty="0"/>
              <a:t> – Core programming </a:t>
            </a:r>
          </a:p>
          <a:p>
            <a:pPr lvl="0"/>
            <a:r>
              <a:rPr lang="en-IN" b="1" dirty="0"/>
              <a:t>Pandas</a:t>
            </a:r>
            <a:r>
              <a:rPr lang="en-IN" dirty="0"/>
              <a:t> – Data cleaning and analysis </a:t>
            </a:r>
          </a:p>
          <a:p>
            <a:pPr lvl="0"/>
            <a:r>
              <a:rPr lang="en-IN" b="1" dirty="0"/>
              <a:t>NumPy</a:t>
            </a:r>
            <a:r>
              <a:rPr lang="en-IN" dirty="0"/>
              <a:t> – Numerical calculations </a:t>
            </a:r>
          </a:p>
          <a:p>
            <a:pPr lvl="0"/>
            <a:r>
              <a:rPr lang="en-IN" b="1" dirty="0"/>
              <a:t>Matplotlib</a:t>
            </a:r>
            <a:r>
              <a:rPr lang="en-IN" dirty="0"/>
              <a:t> – Data visualization </a:t>
            </a:r>
          </a:p>
          <a:p>
            <a:pPr lvl="0"/>
            <a:r>
              <a:rPr lang="en-IN" b="1" dirty="0"/>
              <a:t>Seaborn</a:t>
            </a:r>
            <a:r>
              <a:rPr lang="en-IN" dirty="0"/>
              <a:t> – Statistical charts and heatmaps </a:t>
            </a:r>
          </a:p>
          <a:p>
            <a:pPr lvl="0"/>
            <a:r>
              <a:rPr lang="en-IN" b="1" dirty="0"/>
              <a:t>Excel</a:t>
            </a:r>
            <a:r>
              <a:rPr lang="en-IN" dirty="0"/>
              <a:t> – Dataset storage and input</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1582149" y="49165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C8C9312E-DF7D-02C7-8896-CD675274B984}"/>
              </a:ext>
            </a:extLst>
          </p:cNvPr>
          <p:cNvPicPr>
            <a:picLocks noChangeAspect="1"/>
          </p:cNvPicPr>
          <p:nvPr/>
        </p:nvPicPr>
        <p:blipFill>
          <a:blip r:embed="rId3"/>
          <a:stretch>
            <a:fillRect/>
          </a:stretch>
        </p:blipFill>
        <p:spPr>
          <a:xfrm>
            <a:off x="675957" y="1275371"/>
            <a:ext cx="9102526" cy="4995236"/>
          </a:xfrm>
          <a:prstGeom prst="rect">
            <a:avLst/>
          </a:prstGeom>
        </p:spPr>
      </p:pic>
    </p:spTree>
    <p:extLst>
      <p:ext uri="{BB962C8B-B14F-4D97-AF65-F5344CB8AC3E}">
        <p14:creationId xmlns:p14="http://schemas.microsoft.com/office/powerpoint/2010/main" val="108622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0B7FA1A-7934-877B-C2AD-7D01B3F3DEDC}"/>
              </a:ext>
            </a:extLst>
          </p:cNvPr>
          <p:cNvPicPr>
            <a:picLocks noChangeAspect="1"/>
          </p:cNvPicPr>
          <p:nvPr/>
        </p:nvPicPr>
        <p:blipFill>
          <a:blip r:embed="rId3"/>
          <a:stretch>
            <a:fillRect/>
          </a:stretch>
        </p:blipFill>
        <p:spPr>
          <a:xfrm>
            <a:off x="750601" y="2260579"/>
            <a:ext cx="7768248" cy="3322049"/>
          </a:xfrm>
          <a:prstGeom prst="rect">
            <a:avLst/>
          </a:prstGeom>
        </p:spPr>
      </p:pic>
    </p:spTree>
    <p:extLst>
      <p:ext uri="{BB962C8B-B14F-4D97-AF65-F5344CB8AC3E}">
        <p14:creationId xmlns:p14="http://schemas.microsoft.com/office/powerpoint/2010/main" val="384962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F976D53-2218-2C49-F7AD-6685CFB1566A}"/>
              </a:ext>
            </a:extLst>
          </p:cNvPr>
          <p:cNvPicPr>
            <a:picLocks noChangeAspect="1"/>
          </p:cNvPicPr>
          <p:nvPr/>
        </p:nvPicPr>
        <p:blipFill>
          <a:blip r:embed="rId3"/>
          <a:stretch>
            <a:fillRect/>
          </a:stretch>
        </p:blipFill>
        <p:spPr>
          <a:xfrm>
            <a:off x="320982" y="2166202"/>
            <a:ext cx="10207690" cy="2750349"/>
          </a:xfrm>
          <a:prstGeom prst="rect">
            <a:avLst/>
          </a:prstGeom>
        </p:spPr>
      </p:pic>
    </p:spTree>
    <p:extLst>
      <p:ext uri="{BB962C8B-B14F-4D97-AF65-F5344CB8AC3E}">
        <p14:creationId xmlns:p14="http://schemas.microsoft.com/office/powerpoint/2010/main" val="169890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6E91097-4F3E-545A-3BCE-EE8E3B8D2879}"/>
              </a:ext>
            </a:extLst>
          </p:cNvPr>
          <p:cNvPicPr>
            <a:picLocks noChangeAspect="1"/>
          </p:cNvPicPr>
          <p:nvPr/>
        </p:nvPicPr>
        <p:blipFill>
          <a:blip r:embed="rId3"/>
          <a:stretch>
            <a:fillRect/>
          </a:stretch>
        </p:blipFill>
        <p:spPr>
          <a:xfrm>
            <a:off x="320982" y="1399591"/>
            <a:ext cx="9965094" cy="4442913"/>
          </a:xfrm>
          <a:prstGeom prst="rect">
            <a:avLst/>
          </a:prstGeom>
        </p:spPr>
      </p:pic>
    </p:spTree>
    <p:extLst>
      <p:ext uri="{BB962C8B-B14F-4D97-AF65-F5344CB8AC3E}">
        <p14:creationId xmlns:p14="http://schemas.microsoft.com/office/powerpoint/2010/main" val="190397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E038AF4-F401-47FF-5251-3BDFC7B1F0AD}"/>
              </a:ext>
            </a:extLst>
          </p:cNvPr>
          <p:cNvPicPr>
            <a:picLocks noChangeAspect="1"/>
          </p:cNvPicPr>
          <p:nvPr/>
        </p:nvPicPr>
        <p:blipFill>
          <a:blip r:embed="rId3"/>
          <a:stretch>
            <a:fillRect/>
          </a:stretch>
        </p:blipFill>
        <p:spPr>
          <a:xfrm>
            <a:off x="675956" y="1408921"/>
            <a:ext cx="8570681" cy="4797469"/>
          </a:xfrm>
          <a:prstGeom prst="rect">
            <a:avLst/>
          </a:prstGeom>
        </p:spPr>
      </p:pic>
    </p:spTree>
    <p:extLst>
      <p:ext uri="{BB962C8B-B14F-4D97-AF65-F5344CB8AC3E}">
        <p14:creationId xmlns:p14="http://schemas.microsoft.com/office/powerpoint/2010/main" val="1421522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9E9BB4A6-093A-610A-479B-BC7C302C4003}"/>
              </a:ext>
            </a:extLst>
          </p:cNvPr>
          <p:cNvSpPr txBox="1"/>
          <p:nvPr/>
        </p:nvSpPr>
        <p:spPr>
          <a:xfrm>
            <a:off x="675957" y="2463282"/>
            <a:ext cx="7240555" cy="1954381"/>
          </a:xfrm>
          <a:prstGeom prst="rect">
            <a:avLst/>
          </a:prstGeom>
          <a:noFill/>
        </p:spPr>
        <p:txBody>
          <a:bodyPr wrap="square" rtlCol="0">
            <a:spAutoFit/>
          </a:bodyPr>
          <a:lstStyle/>
          <a:p>
            <a:r>
              <a:rPr lang="en-IN" sz="1100" dirty="0"/>
              <a:t>In the future, the project can be enhanced with AI-based prediction models, real-time weather and soil data, and interactive dashboards to predict crop yield and profitability and provide better crop and irrigation recommendations.</a:t>
            </a:r>
          </a:p>
          <a:p>
            <a:endParaRPr lang="en-IN" sz="1100" dirty="0"/>
          </a:p>
          <a:p>
            <a:endParaRPr lang="en-IN" sz="1100" dirty="0"/>
          </a:p>
          <a:p>
            <a:pPr lvl="0"/>
            <a:r>
              <a:rPr lang="en-IN" sz="1100" b="1" dirty="0"/>
              <a:t>Predictive Models</a:t>
            </a:r>
            <a:r>
              <a:rPr lang="en-IN" sz="1100" dirty="0"/>
              <a:t> – Predict crop yield and profit for future seasons. </a:t>
            </a:r>
          </a:p>
          <a:p>
            <a:pPr lvl="0"/>
            <a:r>
              <a:rPr lang="en-IN" sz="1100" b="1" dirty="0"/>
              <a:t>Real-Time Data</a:t>
            </a:r>
            <a:r>
              <a:rPr lang="en-IN" sz="1100" dirty="0"/>
              <a:t> – Integrate live weather and soil data. </a:t>
            </a:r>
          </a:p>
          <a:p>
            <a:pPr lvl="0"/>
            <a:r>
              <a:rPr lang="en-IN" sz="1100" b="1" dirty="0"/>
              <a:t>AI Recommendations</a:t>
            </a:r>
            <a:r>
              <a:rPr lang="en-IN" sz="1100" dirty="0"/>
              <a:t> – Suggest suitable crops and irrigation strategies. </a:t>
            </a:r>
          </a:p>
          <a:p>
            <a:pPr lvl="0"/>
            <a:r>
              <a:rPr lang="en-IN" sz="1100" b="1" dirty="0"/>
              <a:t>Larger Datasets</a:t>
            </a:r>
            <a:r>
              <a:rPr lang="en-IN" sz="1100" dirty="0"/>
              <a:t> – Use multi-year data for more accurate insights. </a:t>
            </a:r>
          </a:p>
          <a:p>
            <a:pPr lvl="0"/>
            <a:r>
              <a:rPr lang="en-IN" sz="1100" b="1" dirty="0"/>
              <a:t>Interactive Dashboard</a:t>
            </a:r>
            <a:r>
              <a:rPr lang="en-IN" sz="1100" dirty="0"/>
              <a:t> – Build a real-time dashboard for farmers and agricultural departments. </a:t>
            </a:r>
          </a:p>
          <a:p>
            <a:endParaRPr lang="en-IN" sz="1100" dirty="0"/>
          </a:p>
        </p:txBody>
      </p:sp>
    </p:spTree>
    <p:extLst>
      <p:ext uri="{BB962C8B-B14F-4D97-AF65-F5344CB8AC3E}">
        <p14:creationId xmlns:p14="http://schemas.microsoft.com/office/powerpoint/2010/main" val="776828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621210" y="1295118"/>
            <a:ext cx="7232875" cy="646331"/>
          </a:xfrm>
          <a:prstGeom prst="rect">
            <a:avLst/>
          </a:prstGeom>
          <a:noFill/>
        </p:spPr>
        <p:txBody>
          <a:bodyPr wrap="square">
            <a:spAutoFit/>
          </a:bodyPr>
          <a:lstStyle/>
          <a:p>
            <a:r>
              <a:rPr lang="en-US" dirty="0"/>
              <a:t>https://github.com/ANIRUDRAGUPTA07/Seasonal-Agriculture-Performance-Analysis.git</a:t>
            </a:r>
          </a:p>
        </p:txBody>
      </p:sp>
    </p:spTree>
    <p:extLst>
      <p:ext uri="{BB962C8B-B14F-4D97-AF65-F5344CB8AC3E}">
        <p14:creationId xmlns:p14="http://schemas.microsoft.com/office/powerpoint/2010/main" val="3863610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962802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0/xmlns/"/>
    <ds:schemaRef ds:uri="http://www.w3.org/2001/XMLSchema"/>
    <ds:schemaRef ds:uri="71af3243-3dd4-4a8d-8c0d-dd76da1f02a5"/>
    <ds:schemaRef ds:uri="16c05727-aa75-4e4a-9b5f-8a80a116589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purl.org/dc/elements/1.1/"/>
    <ds:schemaRef ds:uri="http://schemas.openxmlformats.org/package/2006/metadata/core-properties"/>
    <ds:schemaRef ds:uri="http://schemas.microsoft.com/office/2006/documentManagement/types"/>
    <ds:schemaRef ds:uri="http://www.w3.org/XML/1998/namespace"/>
    <ds:schemaRef ds:uri="71af3243-3dd4-4a8d-8c0d-dd76da1f02a5"/>
    <ds:schemaRef ds:uri="http://schemas.microsoft.com/office/infopath/2007/PartnerControls"/>
    <ds:schemaRef ds:uri="http://purl.org/dc/dcmitype/"/>
    <ds:schemaRef ds:uri="16c05727-aa75-4e4a-9b5f-8a80a1165891"/>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Facet</Template>
  <TotalTime>1957</TotalTime>
  <Words>676</Words>
  <Application>Microsoft Office PowerPoint</Application>
  <PresentationFormat>Widescreen</PresentationFormat>
  <Paragraphs>46</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 Seasonal Agriculture Performance Analysis  Objective: Analysed how agricultural performance changes across Kharif, Rabi, and Zaid seasons. Dataset: Worked with 4,000 farm records and 28 attributes covering crops, states, weather, soil, resources, production, and financial performance.  Technologies: Python, Pandas, NumPy, Matplotlib, and Seaborn.  Data Cleaning: Identified missing values and handled them using mean imputation. Checked the dataset for duplicates and found none.  Exploratory Analysis: Studied season, crop, and state distributions and calculated important statistics using Pandas.  Seasonal Analysis: Compared yield, profit, rainfall, and water usage across the three seasons.  Visualization: Created bar charts, boxplots, and correlation heatmaps to clearly understand patterns and relationships.  Crop Analysis: Found Sugarcane to have the highest average yield at approximately 46.67 tonnes/ha. Profit Analysis: Kharif had the highest average profit (~₹1.79 lakh), while Zaid had the lowest average profit (~−₹24.8K).  Loss Analysis: Identified 1,966 loss-making farms and analyzed their distribution across seasons. Correlation Analysis: Studied relationships between rainfall, temperature, yield, profit, and water usage. Key Finding: Kharif showed the strongest overall performance, while Zaid required better irrigation and resource management.  Outcome: Generated data-driven insights and recommendations to support better crop planning, resource utilization, and agricultural profitability.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ANIRUDRA GUPTA</cp:lastModifiedBy>
  <cp:revision>102</cp:revision>
  <dcterms:created xsi:type="dcterms:W3CDTF">2021-07-11T13:13:15Z</dcterms:created>
  <dcterms:modified xsi:type="dcterms:W3CDTF">2026-09-10T04:13:16Z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